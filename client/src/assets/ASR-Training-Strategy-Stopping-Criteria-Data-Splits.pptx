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Validation WER by Epoch — Illustrative Example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WER (illustrative)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58</c:v>
                </c:pt>
                <c:pt idx="1">
                  <c:v>50</c:v>
                </c:pt>
                <c:pt idx="2">
                  <c:v>44</c:v>
                </c:pt>
                <c:pt idx="3">
                  <c:v>40.5</c:v>
                </c:pt>
                <c:pt idx="4">
                  <c:v>38.7</c:v>
                </c:pt>
                <c:pt idx="5">
                  <c:v>37.6</c:v>
                </c:pt>
                <c:pt idx="6">
                  <c:v>36.8</c:v>
                </c:pt>
                <c:pt idx="7">
                  <c:v>36.3</c:v>
                </c:pt>
                <c:pt idx="8">
                  <c:v>36</c:v>
                </c:pt>
                <c:pt idx="9">
                  <c:v>35.8</c:v>
                </c:pt>
                <c:pt idx="10">
                  <c:v>35.7</c:v>
                </c:pt>
                <c:pt idx="11">
                  <c:v>35.65</c:v>
                </c:pt>
                <c:pt idx="12">
                  <c:v>35.62</c:v>
                </c:pt>
                <c:pt idx="13">
                  <c:v>35.6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KPI (38%)</c:v>
                </c:pt>
              </c:strCache>
            </c:strRef>
          </c:tx>
          <c:spPr>
            <a:solidFill>
              <a:srgbClr val="F2994A"/>
            </a:solidFill>
            <a:ln w="31750" cap="flat">
              <a:solidFill>
                <a:srgbClr val="F299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994A"/>
              </a:solidFill>
              <a:ln w="9525" cap="flat">
                <a:solidFill>
                  <a:srgbClr val="F299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38</c:v>
                </c:pt>
                <c:pt idx="1">
                  <c:v>38</c:v>
                </c:pt>
                <c:pt idx="2">
                  <c:v>38</c:v>
                </c:pt>
                <c:pt idx="3">
                  <c:v>38</c:v>
                </c:pt>
                <c:pt idx="4">
                  <c:v>38</c:v>
                </c:pt>
                <c:pt idx="5">
                  <c:v>38</c:v>
                </c:pt>
                <c:pt idx="6">
                  <c:v>38</c:v>
                </c:pt>
                <c:pt idx="7">
                  <c:v>38</c:v>
                </c:pt>
                <c:pt idx="8">
                  <c:v>38</c:v>
                </c:pt>
                <c:pt idx="9">
                  <c:v>38</c:v>
                </c:pt>
                <c:pt idx="10">
                  <c:v>38</c:v>
                </c:pt>
                <c:pt idx="11">
                  <c:v>38</c:v>
                </c:pt>
                <c:pt idx="12">
                  <c:v>38</c:v>
                </c:pt>
                <c:pt idx="13">
                  <c:v>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WER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6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206240" cy="4206240"/>
          </a:xfrm>
          <a:prstGeom prst="ellipse">
            <a:avLst/>
          </a:prstGeom>
          <a:solidFill>
            <a:srgbClr val="141A46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371600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41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 ·  TRAINING METHODOLOGY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 Training, Stopping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&amp; Data Splits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a 1000-hour corpus to train on, when to stop, and how to split it into train / validation / test — applied to the SADA Saudi ASR fine-tune.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029200"/>
            <a:ext cx="2926080" cy="0"/>
          </a:xfrm>
          <a:prstGeom prst="line">
            <a:avLst/>
          </a:prstGeom>
          <a:noFill/>
          <a:ln w="12700">
            <a:solidFill>
              <a:srgbClr val="3B43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fine-tuning  ·  RunPod GPU pods  ·  any large ASR corpus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1000 Hours, or Stop Early?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framing: “how many hours should I train on.”  Right framing: “when does validation performance stop improving.”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FBEAE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Fixed data quota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“Train on all 1000h, however many epochs that takes”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for when the model is good enough, or when it's overfitting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GPU-hours past the point of improvement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60604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E7F5E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KPI-driven stop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33756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every hour of your training split, every epoch — withholding data never helps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is epochs/steps, governed by validation WER — not a number picked in advance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stopping rules (Section 4) decide exactly when to stop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Data Before You Touch a Config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1247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speaker / episode / show, never by random utterance — otherwise the same voice or program leaks across train and validation/test, and your WER looks better than it really is</a:t>
            </a:r>
            <a:endParaRPr lang="en-US" sz="1550" dirty="0"/>
          </a:p>
          <a:p>
            <a:pPr algn="l" marL="177800" indent="-1778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by dialect, gender, and age group so validation/test mirror the full population, not just the easiest slice</a:t>
            </a:r>
            <a:endParaRPr lang="en-US" sz="1550" dirty="0"/>
          </a:p>
          <a:p>
            <a:pPr algn="l" marL="177800" indent="-1778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clean / noisy / music balance across splits, unless you deliberately want a dedicated noise-robustness test set</a:t>
            </a:r>
            <a:endParaRPr lang="en-US" sz="1550" dirty="0"/>
          </a:p>
          <a:p>
            <a:pPr algn="l" marL="177800" indent="-1778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repeated intros, outros, and jingles before splitting — they inflate apparent accuracy if they appear in both train and test</a:t>
            </a:r>
            <a:endParaRPr lang="en-US" sz="1550" dirty="0"/>
          </a:p>
          <a:p>
            <a:pPr algn="l" marL="177800" indent="-177800">
              <a:spcAft>
                <a:spcPts val="1800"/>
              </a:spcAft>
              <a:buSzPct val="100000"/>
              <a:buChar char="•"/>
            </a:pPr>
            <a:r>
              <a:rPr lang="en-US" sz="15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split once it's built — save it as versioned manifests and never re-randomize it between runs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1000 Hours: About 950 / 25 / 25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0684764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141964" y="1874520"/>
            <a:ext cx="281178" cy="68580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Shape 6"/>
          <p:cNvSpPr/>
          <p:nvPr/>
        </p:nvSpPr>
        <p:spPr>
          <a:xfrm>
            <a:off x="11423142" y="1874520"/>
            <a:ext cx="281178" cy="685800"/>
          </a:xfrm>
          <a:prstGeom prst="rect">
            <a:avLst/>
          </a:prstGeom>
          <a:solidFill>
            <a:srgbClr val="C96A2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74520"/>
            <a:ext cx="104104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~950h  (95%)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0" y="2633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~25h   ·   Test ~25h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set: evaluated at every checkpoint — this is what drives the stop/continue decision</a:t>
            </a:r>
            <a:endParaRPr lang="en-US" sz="13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touched exactly once, at the very end, for the number you actually report</a:t>
            </a:r>
            <a:endParaRPr lang="en-US" sz="13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hours is already enough for a statistically stable WER estimate once speakers/conditions are diverse — bigger val/test sets mostly just take training data away from the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20040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EEF1FA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328416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precedent: SADA itself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3621024"/>
            <a:ext cx="4983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SADA's own curated split is ~418h train / ~10h val / ~10h test — about 95.5% / 2.3% / 2.3% of its ~438h clean subset. That's almost exactly this ratio, and it's what the published SADA benchmarks (next section) were measured 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Error Rate — and Why Arabic Needs CER Too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B1F2A"/>
          </a:solidFill>
          <a:ln/>
          <a:effectLst>
            <a:outerShdw sx="100000" sy="100000" kx="0" ky="0" algn="bl" rotWithShape="0" blurRad="101600" dist="38100" dir="5400000">
              <a:srgbClr val="0B0D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975104"/>
            <a:ext cx="118872" cy="118872"/>
          </a:xfrm>
          <a:prstGeom prst="ellipse">
            <a:avLst/>
          </a:prstGeom>
          <a:solidFill>
            <a:srgbClr val="E5666B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1975104"/>
            <a:ext cx="118872" cy="11887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975104"/>
            <a:ext cx="118872" cy="118872"/>
          </a:xfrm>
          <a:prstGeom prst="ellipse">
            <a:avLst/>
          </a:prstGeom>
          <a:solidFill>
            <a:srgbClr val="6FCF6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12848"/>
            <a:ext cx="4882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WER  =  (S + D + I) / N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50" i="1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S=substitutions D=deletions I=insertions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50" i="1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 = word count in the reference transcript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B1F2A"/>
          </a:solidFill>
          <a:ln/>
          <a:effectLst>
            <a:outerShdw sx="100000" sy="100000" kx="0" ky="0" algn="bl" rotWithShape="0" blurRad="101600" dist="38100" dir="5400000">
              <a:srgbClr val="0B0D1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975104"/>
            <a:ext cx="118872" cy="118872"/>
          </a:xfrm>
          <a:prstGeom prst="ellipse">
            <a:avLst/>
          </a:prstGeom>
          <a:solidFill>
            <a:srgbClr val="E5666B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9984" y="1975104"/>
            <a:ext cx="118872" cy="11887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1975104"/>
            <a:ext cx="118872" cy="118872"/>
          </a:xfrm>
          <a:prstGeom prst="ellipse">
            <a:avLst/>
          </a:prstGeom>
          <a:solidFill>
            <a:srgbClr val="6FCF6F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2212848"/>
            <a:ext cx="4882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 =  (S + D + I) / N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50" i="1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formula, at the character level</a:t>
            </a:r>
            <a:endParaRPr lang="en-US" sz="14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50" i="1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less sensitive to word-boundary noise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1247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 the standard ASR KPI — monitor it on the validation set after every checkpoint</a:t>
            </a:r>
            <a:endParaRPr lang="en-US" sz="14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Arabic's agglutinative morphology and diacritics can inflate WER on transcriptions that are nearly correct — track CER alongside it as a sanity check on the same eval pass</a:t>
            </a:r>
            <a:endParaRPr lang="en-US" sz="1400" dirty="0"/>
          </a:p>
          <a:p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NeMo's WER metric class supports use_cer=true — log both from a single evaluation run, no extra pass needed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Your Threshold From Published Baselines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3832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NVIDIA Conformer-CTC-Arabic + 4-gram LM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SADA clean, zero-shot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37.8%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NVIDIA Conformer-CTC-Arabic, greedy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SADA clean, zero-shot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40.5%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Whisper large-v2 / v3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SADA clean, zero-shot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~51%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MMS, fine-tuned + LM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SADA clean, fine-tuned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40.9%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17.6%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XLSR-elgeish, fine-tuned + LM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SADA clean, fine-tuned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42.6%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</a:rPr>
                        <a:t>18.3%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709160"/>
            <a:ext cx="11155680" cy="1600200"/>
          </a:xfrm>
          <a:prstGeom prst="roundRect">
            <a:avLst>
              <a:gd name="adj" fmla="val 4571"/>
            </a:avLst>
          </a:prstGeom>
          <a:solidFill>
            <a:srgbClr val="FFF3E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4837176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hard dataset, not a data-quality problem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5129784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 is unscripted, multi-speaker broadcast TV audio with heavy crosstalk and dialect density — even fine-tuned, LM-decoded systems sit in the high-30s to low-40s WER. A realistic first-fine-tune KPI is “match or beat ~38–40% WER on your own validation set,” not single-digit WER.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CRITERIA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Stopping Rules — Whichever Fires First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94960" cy="3383280"/>
          </a:xfrm>
          <a:prstGeom prst="roundRect">
            <a:avLst>
              <a:gd name="adj" fmla="val 2432"/>
            </a:avLst>
          </a:prstGeom>
          <a:solidFill>
            <a:srgbClr val="EEF1F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8483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0848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Target-threshold stop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4846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as soon as validation WER crosses your KPI bar (e.g., ≤ 38%)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and budget-driven — grounded in the published baselines from Section 3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paying for marginal gains once the model is already good enough to ship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94960" cy="3383280"/>
          </a:xfrm>
          <a:prstGeom prst="roundRect">
            <a:avLst>
              <a:gd name="adj" fmla="val 2432"/>
            </a:avLst>
          </a:prstGeom>
          <a:solidFill>
            <a:srgbClr val="EEF1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084832"/>
            <a:ext cx="411480" cy="4114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20848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early-stopping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83680" y="2697480"/>
            <a:ext cx="4846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if val WER hasn't improved by more than min_delta over patience consecutive checks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 if the target is unreachable soon, or to catch overfitting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in the background even if Rule 1 never fires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3949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22976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581558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checkpoint with the single best validation WER seen so far — never the last one saved.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CRITERIA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Looks Like in Practice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11064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illustration, validation WER crosses the 38% target around epoch 6 — the target-threshold rule stops training there, even though the curve keeps inching down afterward.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PROTOCOL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in Two Stages, Not One Leap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EF1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— Smoke Test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5–10h subset of the training split, 1–2 epochs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manifests, tokenizer, and config are correct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checkpointing + early-stopping callbacks actually fire before you commit real GPU-hours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EF1F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Full-Data Run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~950h, checkpointed every epoch (or every N steps)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the same cadence, governed by the two stopping rules from Section 4</a:t>
            </a:r>
            <a:endParaRPr lang="en-US" sz="13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across pod stop/restart via exp_manager.resume_if_exists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30352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3E7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431536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 Stage 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572414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tokenizer path or malformed manifest is the #1 reason a “long run” silently wastes a full day of GPU time.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CONFIG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Both Stopping Rules in NeMo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4572000"/>
          </a:xfrm>
          <a:prstGeom prst="roundRect">
            <a:avLst>
              <a:gd name="adj" fmla="val 1800"/>
            </a:avLst>
          </a:prstGeom>
          <a:solidFill>
            <a:srgbClr val="1B1F2A"/>
          </a:solidFill>
          <a:ln/>
          <a:effectLst>
            <a:outerShdw sx="100000" sy="100000" kx="0" ky="0" algn="bl" rotWithShape="0" blurRad="101600" dist="38100" dir="5400000">
              <a:srgbClr val="0B0D14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975104"/>
            <a:ext cx="118872" cy="118872"/>
          </a:xfrm>
          <a:prstGeom prst="ellipse">
            <a:avLst/>
          </a:prstGeom>
          <a:solidFill>
            <a:srgbClr val="E5666B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1975104"/>
            <a:ext cx="118872" cy="118872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975104"/>
            <a:ext cx="118872" cy="118872"/>
          </a:xfrm>
          <a:prstGeom prst="ellipse">
            <a:avLst/>
          </a:prstGeom>
          <a:solidFill>
            <a:srgbClr val="6FCF6F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12848"/>
            <a:ext cx="10735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Rule: keep the single best checkpoint by validation WER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exp_manager.checkpoint_callback_params.monitor=val_wer \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exp_manager.checkpoint_callback_params.mode=min \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exp_manager.checkpoint_callback_params.save_top_k=3 \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Rule 2: plateau early-stopping (safety net)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exp_manager.create_early_stopping_callback=true \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exp_manager.early_stopping_callback_params.monitor=val_wer \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exp_manager.early_stopping_callback_params.mode=min \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exp_manager.early_stopping_callback_params.min_delta=0.001 \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exp_manager.early_stopping_callback_params.patience=8 \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exp_manager.early_stopping_callback_params.strict=false \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Ceiling only — the rules above stop it sooner if triggered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3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trainer.max_epochs=100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Every Validation Checkpoint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83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validation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1828800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val WER (and CER) on the held-out validation 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" y="2267712"/>
            <a:ext cx="27432" cy="457200"/>
          </a:xfrm>
          <a:prstGeom prst="rect">
            <a:avLst/>
          </a:prstGeom>
          <a:solidFill>
            <a:srgbClr val="C9CFE3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724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670048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 threshold?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2670048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stop, ship this checkpoint. No → continue to 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" y="3108960"/>
            <a:ext cx="27432" cy="457200"/>
          </a:xfrm>
          <a:prstGeom prst="rect">
            <a:avLst/>
          </a:prstGeom>
          <a:solidFill>
            <a:srgbClr val="C9CFE3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511296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vs. best-so-far?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26280" y="3511296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more than min_delta → save as new best checkpoint, continue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" y="3950208"/>
            <a:ext cx="27432" cy="457200"/>
          </a:xfrm>
          <a:prstGeom prst="rect">
            <a:avLst/>
          </a:prstGeom>
          <a:solidFill>
            <a:srgbClr val="C9CFE3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4074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07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4352544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improvement for patience checks?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26280" y="4352544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stop (plateaued), roll back to the best checkpoint saved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" y="4791456"/>
            <a:ext cx="27432" cy="457200"/>
          </a:xfrm>
          <a:prstGeom prst="rect">
            <a:avLst/>
          </a:prstGeom>
          <a:solidFill>
            <a:srgbClr val="C9CFE3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2486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248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5193792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26280" y="5193792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training to the next checkpoint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297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ACCEPTANCE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Set Gets Used Exactly Once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47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drives every stop/continue decision during training — it gets touched constantly</a:t>
            </a:r>
            <a:endParaRPr lang="en-US" sz="1600" dirty="0"/>
          </a:p>
          <a:p>
            <a:pPr algn="l" marL="177800" indent="-1778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is never looked at until the best checkpoint (by validation WER) has already been chosen</a:t>
            </a:r>
            <a:endParaRPr lang="en-US" sz="1600" dirty="0"/>
          </a:p>
          <a:p>
            <a:pPr algn="l" marL="177800" indent="-1778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evaluation script once, on the test manifest, with the winning checkpoint — that number is what you report and ship</a:t>
            </a:r>
            <a:endParaRPr lang="en-US" sz="1600" dirty="0"/>
          </a:p>
          <a:p>
            <a:pPr algn="l" marL="177800" indent="-1778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 WER is much worse than validation WER, the split leaked (speaker/session overlap) — revisit Section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141A4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858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Launch the Full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10332720" cy="4663440"/>
          </a:xfrm>
          <a:prstGeom prst="roundRect">
            <a:avLst>
              <a:gd name="adj" fmla="val 1961"/>
            </a:avLst>
          </a:prstGeom>
          <a:solidFill>
            <a:srgbClr val="141A46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1901952"/>
            <a:ext cx="329184" cy="32918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901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by speaker/session, stratified, deduplicated, frozen as manifests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234440" y="2615184"/>
            <a:ext cx="329184" cy="32918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615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587752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defined: target WER (and CER) grounded in a real baseline, not guessed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234440" y="3328416"/>
            <a:ext cx="329184" cy="32918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28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3300984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stopping rules configured: target-threshold + plateau early-stopping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34440" y="4041648"/>
            <a:ext cx="329184" cy="32918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041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4014216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selection set to best val_wer, not last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234440" y="4754880"/>
            <a:ext cx="329184" cy="32918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754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37360" y="4727448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smoke test passed before committing to the full run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234440" y="5468112"/>
            <a:ext cx="329184" cy="32918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468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544068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left untouched until the very end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DeepBrain  ·  ASR Training Strategy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Staged Training, Stopping Criteria &amp; Data Splits</dc:title>
  <dc:subject>PptxGenJS Presentation</dc:subject>
  <dc:creator>DeepBrain</dc:creator>
  <cp:lastModifiedBy>DeepBrain</cp:lastModifiedBy>
  <cp:revision>1</cp:revision>
  <dcterms:created xsi:type="dcterms:W3CDTF">2026-07-17T12:18:10Z</dcterms:created>
  <dcterms:modified xsi:type="dcterms:W3CDTF">2026-07-17T12:18:10Z</dcterms:modified>
</cp:coreProperties>
</file>